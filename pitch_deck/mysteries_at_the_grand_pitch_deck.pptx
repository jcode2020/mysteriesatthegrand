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>
    <p:restoredLeft sz="15620"/>
    <p:restoredTop sz="94660"/>
  </p:normalViewPr>
  <p:slideViewPr>
    <p:cSldViewPr snapToGrid="1" snapToObjects="1"/>
  </p:slideViewPr>
  <p:notesTextViewPr/>
  <p:gridSpacing cx="72008" cy="72008"/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1">
  <p:cSld name="Grand Templat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ysteries At The Grand Master">
    <p:bg>
      <p:bgPr>
        <a:solidFill>
          <a:srgbClr val="F3EA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uter Frame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2700">
            <a:solidFill>
              <a:srgbClr val="D8CBBE"/>
            </a:solidFill>
          </a:ln>
        </p:spPr>
        <p:txBody>
          <a:bodyPr/>
          <a:lstStyle/>
          <a:p/>
        </p:txBody>
      </p:sp>
      <p:sp>
        <p:nvSpPr>
          <p:cNvPr id="3" name="Inner Frame"/>
          <p:cNvSpPr/>
          <p:nvPr/>
        </p:nvSpPr>
        <p:spPr>
          <a:xfrm>
            <a:off x="310896" y="310896"/>
            <a:ext cx="11567160" cy="6236208"/>
          </a:xfrm>
          <a:prstGeom prst="rect">
            <a:avLst/>
          </a:prstGeom>
          <a:noFill/>
          <a:ln w="8890">
            <a:solidFill>
              <a:srgbClr val="E9D8C0"/>
            </a:solidFill>
          </a:ln>
        </p:spPr>
        <p:txBody>
          <a:bodyPr/>
          <a:lstStyle/>
          <a:p/>
        </p:txBody>
      </p:sp>
      <p:sp>
        <p:nvSpPr>
          <p:cNvPr id="4" name="Top Rule"/>
          <p:cNvSpPr/>
          <p:nvPr/>
        </p:nvSpPr>
        <p:spPr>
          <a:xfrm>
            <a:off x="457200" y="868680"/>
            <a:ext cx="11274552" cy="0"/>
          </a:xfrm>
          <a:prstGeom prst="line">
            <a:avLst/>
          </a:prstGeom>
          <a:ln w="8890">
            <a:solidFill>
              <a:srgbClr val="D8CBBE"/>
            </a:solidFill>
          </a:ln>
        </p:spPr>
        <p:txBody>
          <a:bodyPr/>
          <a:lstStyle/>
          <a:p/>
        </p:txBody>
      </p:sp>
      <p:sp>
        <p:nvSpPr>
          <p:cNvPr id="5" name="Bottom Rule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ln w="8890">
            <a:solidFill>
              <a:srgbClr val="D8CBBE"/>
            </a:solidFill>
          </a:ln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1"/>
          </a:solidFill>
          <a:latin typeface="Playfair Display"/>
        </a:defRPr>
      </a:lvl1pPr>
    </p:titleStyle>
    <p:bodyStyle>
      <a:lvl1pPr marL="0" indent="0">
        <a:defRPr sz="1800">
          <a:solidFill>
            <a:schemeClr val="tx1"/>
          </a:solidFill>
          <a:latin typeface="IBM Plex Mono"/>
        </a:defRPr>
      </a:lvl1pPr>
    </p:bodyStyle>
    <p:otherStyle>
      <a:defPPr/>
      <a:lvl1pPr marL="0" indent="0">
        <a:defRPr sz="1600">
          <a:solidFill>
            <a:schemeClr val="tx1"/>
          </a:solidFill>
          <a:latin typeface="IBM Plex Mono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hy N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 Tab"/>
          <p:cNvSpPr txBox="1"/>
          <p:nvPr/>
        </p:nvSpPr>
        <p:spPr>
          <a:xfrm>
            <a:off x="475488" y="310896"/>
            <a:ext cx="2560320" cy="310896"/>
          </a:xfrm>
          <a:prstGeom prst="rect">
            <a:avLst/>
          </a:prstGeom>
          <a:solidFill>
            <a:srgbClr val="E9D8C0"/>
          </a:solidFill>
          <a:ln w="7620">
            <a:solidFill>
              <a:srgbClr val="D8CBBE"/>
            </a:solidFill>
          </a:ln>
        </p:spPr>
        <p:txBody>
          <a:bodyPr wrap="square" anchor="ctr" lIns="101600" rIns="101600" tIns="101600" bIns="101600"/>
          <a:lstStyle/>
          <a:p>
            <a:pPr algn="l"/>
            <a:r>
              <a:rPr lang="en-US" sz="1000" b="1" dirty="0" smtClean="0">
                <a:solidFill>
                  <a:srgbClr val="6F584B"/>
                </a:solidFill>
                <a:latin typeface="IBM Plex Mono"/>
                <a:ea typeface="IBM Plex Mono"/>
                <a:cs typeface="IBM Plex Mono"/>
              </a:rPr>
              <a:t>SLIDE 01 / WHY NOW</a:t>
            </a:r>
            <a:endParaRPr lang="en-US" sz="1000" dirty="0"/>
          </a:p>
        </p:txBody>
      </p:sp>
      <p:sp>
        <p:nvSpPr>
          <p:cNvPr id="3" name="Left Panel"/>
          <p:cNvSpPr/>
          <p:nvPr/>
        </p:nvSpPr>
        <p:spPr>
          <a:xfrm>
            <a:off x="566928" y="914400"/>
            <a:ext cx="5257800" cy="4663440"/>
          </a:xfrm>
          <a:prstGeom prst="rect">
            <a:avLst/>
          </a:prstGeom>
          <a:solidFill>
            <a:srgbClr val="FCF6EE"/>
          </a:solidFill>
          <a:ln w="10160">
            <a:solidFill>
              <a:srgbClr val="D8CBBE"/>
            </a:solidFill>
          </a:ln>
        </p:spPr>
        <p:txBody>
          <a:bodyPr/>
          <a:lstStyle/>
          <a:p/>
        </p:txBody>
      </p:sp>
      <p:sp>
        <p:nvSpPr>
          <p:cNvPr id="4" name="Right Panel"/>
          <p:cNvSpPr/>
          <p:nvPr/>
        </p:nvSpPr>
        <p:spPr>
          <a:xfrm>
            <a:off x="5980176" y="914400"/>
            <a:ext cx="5449824" cy="4663440"/>
          </a:xfrm>
          <a:prstGeom prst="rect">
            <a:avLst/>
          </a:prstGeom>
          <a:solidFill>
            <a:srgbClr val="E9D8C0"/>
          </a:solidFill>
          <a:ln w="10160">
            <a:solidFill>
              <a:srgbClr val="D8CBBE"/>
            </a:solidFill>
          </a:ln>
        </p:spPr>
        <p:txBody>
          <a:bodyPr/>
          <a:lstStyle/>
          <a:p/>
        </p:txBody>
      </p:sp>
      <p:sp>
        <p:nvSpPr>
          <p:cNvPr id="5" name="Slide Title"/>
          <p:cNvSpPr txBox="1"/>
          <p:nvPr/>
        </p:nvSpPr>
        <p:spPr>
          <a:xfrm>
            <a:off x="713232" y="1078992"/>
            <a:ext cx="4297680" cy="713232"/>
          </a:xfrm>
          <a:prstGeom prst="rect">
            <a:avLst/>
          </a:prstGeom>
          <a:noFill/>
          <a:ln>
            <a:noFill/>
          </a:ln>
        </p:spPr>
        <p:txBody>
          <a:bodyPr wrap="square" anchor="t" lIns="101600" rIns="101600" tIns="101600" bIns="101600"/>
          <a:lstStyle/>
          <a:p>
            <a:pPr algn="l"/>
            <a:r>
              <a:rPr lang="en-US" sz="2700" i="1" dirty="0" smtClean="0">
                <a:solidFill>
                  <a:srgbClr val="2D1D16"/>
                </a:solidFill>
                <a:latin typeface="Playfair Display"/>
                <a:ea typeface="Playfair Display"/>
                <a:cs typeface="Playfair Display"/>
              </a:rPr>
              <a:t>Luxury is shifting from objects to experiences.</a:t>
            </a:r>
            <a:endParaRPr lang="en-US" sz="2700" dirty="0"/>
          </a:p>
        </p:txBody>
      </p:sp>
      <p:sp>
        <p:nvSpPr>
          <p:cNvPr id="6" name="Who Label"/>
          <p:cNvSpPr txBox="1"/>
          <p:nvPr/>
        </p:nvSpPr>
        <p:spPr>
          <a:xfrm>
            <a:off x="804672" y="2084832"/>
            <a:ext cx="169164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101600" rIns="101600" tIns="101600" bIns="101600"/>
          <a:lstStyle/>
          <a:p>
            <a:pPr algn="l"/>
            <a:r>
              <a:rPr lang="en-US" sz="1000" b="1" dirty="0" smtClean="0">
                <a:solidFill>
                  <a:srgbClr val="6F2430"/>
                </a:solidFill>
                <a:latin typeface="IBM Plex Mono"/>
                <a:ea typeface="IBM Plex Mono"/>
                <a:cs typeface="IBM Plex Mono"/>
              </a:rPr>
              <a:t>CONSUMER SHIFT</a:t>
            </a:r>
            <a:endParaRPr lang="en-US" sz="1000" dirty="0"/>
          </a:p>
        </p:txBody>
      </p:sp>
      <p:sp>
        <p:nvSpPr>
          <p:cNvPr id="7" name="Who Body"/>
          <p:cNvSpPr txBox="1"/>
          <p:nvPr/>
        </p:nvSpPr>
        <p:spPr>
          <a:xfrm>
            <a:off x="804672" y="2432304"/>
            <a:ext cx="4526280" cy="841248"/>
          </a:xfrm>
          <a:prstGeom prst="rect">
            <a:avLst/>
          </a:prstGeom>
          <a:noFill/>
          <a:ln>
            <a:noFill/>
          </a:ln>
        </p:spPr>
        <p:txBody>
          <a:bodyPr wrap="square" anchor="t" lIns="101600" rIns="101600" tIns="101600" bIns="101600"/>
          <a:lstStyle/>
          <a:p>
            <a:pPr algn="l"/>
            <a:r>
              <a:rPr lang="en-US" sz="1400" dirty="0" smtClean="0">
                <a:solidFill>
                  <a:srgbClr val="6F584B"/>
                </a:solidFill>
                <a:latin typeface="IBM Plex Mono"/>
                <a:ea typeface="IBM Plex Mono"/>
                <a:cs typeface="IBM Plex Mono"/>
              </a:rPr>
              <a:t>Bain says luxury consumers are prioritizing experiences over products.</a:t>
            </a:r>
            <a:endParaRPr lang="en-US" sz="1400" dirty="0"/>
          </a:p>
          <a:p>
            <a:pPr algn="l"/>
            <a:r>
              <a:rPr lang="en-US" sz="1400" dirty="0" smtClean="0">
                <a:solidFill>
                  <a:srgbClr val="6F584B"/>
                </a:solidFill>
                <a:latin typeface="IBM Plex Mono"/>
                <a:ea typeface="IBM Plex Mono"/>
                <a:cs typeface="IBM Plex Mono"/>
              </a:rPr>
              <a:t>That trend maps directly into hospitality, where brands increasingly compete on atmosphere, story, and memory.</a:t>
            </a:r>
            <a:endParaRPr lang="en-US" sz="1400" dirty="0"/>
          </a:p>
        </p:txBody>
      </p:sp>
      <p:sp>
        <p:nvSpPr>
          <p:cNvPr id="8" name="Accent Rule"/>
          <p:cNvSpPr/>
          <p:nvPr/>
        </p:nvSpPr>
        <p:spPr>
          <a:xfrm>
            <a:off x="804672" y="3438144"/>
            <a:ext cx="1600200" cy="27432"/>
          </a:xfrm>
          <a:prstGeom prst="rect">
            <a:avLst/>
          </a:prstGeom>
          <a:solidFill>
            <a:srgbClr val="B08A3E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Market Label"/>
          <p:cNvSpPr txBox="1"/>
          <p:nvPr/>
        </p:nvSpPr>
        <p:spPr>
          <a:xfrm>
            <a:off x="804672" y="3703320"/>
            <a:ext cx="173736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101600" rIns="101600" tIns="101600" bIns="101600"/>
          <a:lstStyle/>
          <a:p>
            <a:pPr algn="l"/>
            <a:r>
              <a:rPr lang="en-US" sz="1000" b="1" dirty="0" smtClean="0">
                <a:solidFill>
                  <a:srgbClr val="6F2430"/>
                </a:solidFill>
                <a:latin typeface="IBM Plex Mono"/>
                <a:ea typeface="IBM Plex Mono"/>
                <a:cs typeface="IBM Plex Mono"/>
              </a:rPr>
              <a:t>HOSPITALITY IMPLICATION</a:t>
            </a:r>
            <a:endParaRPr lang="en-US" sz="1000" dirty="0"/>
          </a:p>
        </p:txBody>
      </p:sp>
      <p:sp>
        <p:nvSpPr>
          <p:cNvPr id="10" name="Market Body"/>
          <p:cNvSpPr txBox="1"/>
          <p:nvPr/>
        </p:nvSpPr>
        <p:spPr>
          <a:xfrm>
            <a:off x="804672" y="4041648"/>
            <a:ext cx="4526280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 lIns="101600" rIns="101600" tIns="101600" bIns="101600"/>
          <a:lstStyle/>
          <a:p>
            <a:pPr algn="l"/>
            <a:r>
              <a:rPr lang="en-US" sz="1400" dirty="0" smtClean="0">
                <a:solidFill>
                  <a:srgbClr val="6F584B"/>
                </a:solidFill>
                <a:latin typeface="IBM Plex Mono"/>
                <a:ea typeface="IBM Plex Mono"/>
                <a:cs typeface="IBM Plex Mono"/>
              </a:rPr>
              <a:t>Premium and luxury hotels cannot only sell beds.</a:t>
            </a:r>
            <a:endParaRPr lang="en-US" sz="1400" dirty="0"/>
          </a:p>
          <a:p>
            <a:pPr algn="l"/>
            <a:r>
              <a:rPr lang="en-US" sz="1400" dirty="0" smtClean="0">
                <a:solidFill>
                  <a:srgbClr val="6F584B"/>
                </a:solidFill>
                <a:latin typeface="IBM Plex Mono"/>
                <a:ea typeface="IBM Plex Mono"/>
                <a:cs typeface="IBM Plex Mono"/>
              </a:rPr>
              <a:t>They need an ownable experience that keeps the property top of mind before booking and between stays.</a:t>
            </a:r>
            <a:endParaRPr lang="en-US" sz="1400" dirty="0"/>
          </a:p>
        </p:txBody>
      </p:sp>
      <p:sp>
        <p:nvSpPr>
          <p:cNvPr id="11" name="Today Label"/>
          <p:cNvSpPr txBox="1"/>
          <p:nvPr/>
        </p:nvSpPr>
        <p:spPr>
          <a:xfrm>
            <a:off x="6236208" y="1261872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101600" rIns="101600" tIns="101600" bIns="101600"/>
          <a:lstStyle/>
          <a:p>
            <a:pPr algn="l"/>
            <a:r>
              <a:rPr lang="en-US" sz="1000" b="1" dirty="0" smtClean="0">
                <a:solidFill>
                  <a:srgbClr val="6F2430"/>
                </a:solidFill>
                <a:latin typeface="IBM Plex Mono"/>
                <a:ea typeface="IBM Plex Mono"/>
                <a:cs typeface="IBM Plex Mono"/>
              </a:rPr>
              <a:t>HOSPITALITY PROOF POINTS</a:t>
            </a:r>
            <a:endParaRPr lang="en-US" sz="1000" dirty="0"/>
          </a:p>
        </p:txBody>
      </p:sp>
      <p:sp>
        <p:nvSpPr>
          <p:cNvPr id="12" name="Today Body"/>
          <p:cNvSpPr txBox="1"/>
          <p:nvPr/>
        </p:nvSpPr>
        <p:spPr>
          <a:xfrm>
            <a:off x="6236208" y="1645920"/>
            <a:ext cx="4892040" cy="2148840"/>
          </a:xfrm>
          <a:prstGeom prst="rect">
            <a:avLst/>
          </a:prstGeom>
          <a:noFill/>
          <a:ln>
            <a:noFill/>
          </a:ln>
        </p:spPr>
        <p:txBody>
          <a:bodyPr wrap="square" anchor="t" lIns="101600" rIns="101600" tIns="101600" bIns="101600"/>
          <a:lstStyle/>
          <a:p>
            <a:pPr algn="l"/>
            <a:r>
              <a:rPr lang="en-US" sz="1400" dirty="0" smtClean="0">
                <a:solidFill>
                  <a:srgbClr val="6F584B"/>
                </a:solidFill>
                <a:latin typeface="IBM Plex Mono"/>
                <a:ea typeface="IBM Plex Mono"/>
                <a:cs typeface="IBM Plex Mono"/>
              </a:rPr>
              <a:t>Christoph Hoffmann / 25hours: "bevor wir uns hinsetzen und ein Hotel entwickeln, brauchen wir eine Geschichte."</a:t>
            </a:r>
            <a:endParaRPr lang="en-US" sz="1400" dirty="0"/>
          </a:p>
          <a:p>
            <a:pPr algn="l"/>
            <a:r>
              <a:rPr lang="en-US" sz="1400" dirty="0" smtClean="0">
                <a:solidFill>
                  <a:srgbClr val="6F584B"/>
                </a:solidFill>
                <a:latin typeface="IBM Plex Mono"/>
                <a:ea typeface="IBM Plex Mono"/>
                <a:cs typeface="IBM Plex Mono"/>
              </a:rPr>
              <a:t>And: "jedes Hotel muss seine eigene Geschichte haben."</a:t>
            </a:r>
            <a:endParaRPr lang="en-US" sz="1400" dirty="0"/>
          </a:p>
          <a:p>
            <a:pPr algn="l"/>
            <a:r>
              <a:rPr lang="en-US" sz="1400" dirty="0" smtClean="0">
                <a:solidFill>
                  <a:srgbClr val="6F584B"/>
                </a:solidFill>
                <a:latin typeface="IBM Plex Mono"/>
                <a:ea typeface="IBM Plex Mono"/>
                <a:cs typeface="IBM Plex Mono"/>
              </a:rPr>
              <a:t>This is exactly the gap: hotels need a digital form for story-led immersion.</a:t>
            </a:r>
            <a:endParaRPr lang="en-US" sz="1400" dirty="0"/>
          </a:p>
        </p:txBody>
      </p:sp>
      <p:sp>
        <p:nvSpPr>
          <p:cNvPr id="13" name="Pain Bar"/>
          <p:cNvSpPr/>
          <p:nvPr/>
        </p:nvSpPr>
        <p:spPr>
          <a:xfrm>
            <a:off x="6236208" y="3968496"/>
            <a:ext cx="4535424" cy="411480"/>
          </a:xfrm>
          <a:prstGeom prst="rect">
            <a:avLst/>
          </a:prstGeom>
          <a:solidFill>
            <a:srgbClr val="6F2430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Pain Copy"/>
          <p:cNvSpPr txBox="1"/>
          <p:nvPr/>
        </p:nvSpPr>
        <p:spPr>
          <a:xfrm>
            <a:off x="6437376" y="4041648"/>
            <a:ext cx="41605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rIns="101600" tIns="101600" bIns="101600"/>
          <a:lstStyle/>
          <a:p>
            <a:pPr algn="l"/>
            <a:r>
              <a:rPr lang="en-US" sz="1000" b="1" dirty="0" smtClean="0">
                <a:solidFill>
                  <a:srgbClr val="FCF6EE"/>
                </a:solidFill>
                <a:latin typeface="IBM Plex Mono"/>
                <a:ea typeface="IBM Plex Mono"/>
                <a:cs typeface="IBM Plex Mono"/>
              </a:rPr>
              <a:t>Hotels increasingly need experiences, not just rooms.</a:t>
            </a:r>
            <a:endParaRPr lang="en-US" sz="1000" dirty="0"/>
          </a:p>
        </p:txBody>
      </p:sp>
      <p:sp>
        <p:nvSpPr>
          <p:cNvPr id="15" name="Pain Notes"/>
          <p:cNvSpPr txBox="1"/>
          <p:nvPr/>
        </p:nvSpPr>
        <p:spPr>
          <a:xfrm>
            <a:off x="6236208" y="4553712"/>
            <a:ext cx="475488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101600" rIns="101600" tIns="101600" bIns="101600"/>
          <a:lstStyle/>
          <a:p>
            <a:pPr algn="l"/>
            <a:r>
              <a:rPr lang="en-US" sz="1300" i="1" dirty="0" smtClean="0">
                <a:solidFill>
                  <a:srgbClr val="2D1D16"/>
                </a:solidFill>
                <a:latin typeface="Playfair Display"/>
                <a:ea typeface="Playfair Display"/>
                <a:cs typeface="Playfair Display"/>
              </a:rPr>
              <a:t>Use a venn diagram here: luxury experiences x hospitality.</a:t>
            </a:r>
            <a:endParaRPr lang="en-US" sz="1300" dirty="0"/>
          </a:p>
        </p:txBody>
      </p:sp>
      <p:sp>
        <p:nvSpPr>
          <p:cNvPr id="16" name="Footer Label"/>
          <p:cNvSpPr txBox="1"/>
          <p:nvPr/>
        </p:nvSpPr>
        <p:spPr>
          <a:xfrm>
            <a:off x="10835640" y="6419088"/>
            <a:ext cx="8686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rIns="101600" tIns="101600" bIns="101600"/>
          <a:lstStyle/>
          <a:p>
            <a:pPr algn="l"/>
            <a:r>
              <a:rPr lang="en-US" sz="900" dirty="0" smtClean="0">
                <a:solidFill>
                  <a:srgbClr val="6F584B"/>
                </a:solidFill>
                <a:latin typeface="IBM Plex Mono"/>
                <a:ea typeface="IBM Plex Mono"/>
                <a:cs typeface="IBM Plex Mono"/>
              </a:rPr>
              <a:t>PAGE 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duct Sto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 Tab"/>
          <p:cNvSpPr txBox="1"/>
          <p:nvPr/>
        </p:nvSpPr>
        <p:spPr>
          <a:xfrm>
            <a:off x="475488" y="310896"/>
            <a:ext cx="2148840" cy="310896"/>
          </a:xfrm>
          <a:prstGeom prst="rect">
            <a:avLst/>
          </a:prstGeom>
          <a:solidFill>
            <a:srgbClr val="E9D8C0"/>
          </a:solidFill>
          <a:ln w="7620">
            <a:solidFill>
              <a:srgbClr val="D8CBBE"/>
            </a:solidFill>
          </a:ln>
        </p:spPr>
        <p:txBody>
          <a:bodyPr wrap="square" anchor="ctr" lIns="101600" rIns="101600" tIns="101600" bIns="101600"/>
          <a:lstStyle/>
          <a:p>
            <a:pPr algn="l"/>
            <a:r>
              <a:rPr lang="en-US" sz="1000" b="1" dirty="0" smtClean="0">
                <a:solidFill>
                  <a:srgbClr val="6F584B"/>
                </a:solidFill>
                <a:latin typeface="IBM Plex Mono"/>
                <a:ea typeface="IBM Plex Mono"/>
                <a:cs typeface="IBM Plex Mono"/>
              </a:rPr>
              <a:t>SLIDE 02 / PRODUCT STORY</a:t>
            </a:r>
            <a:endParaRPr lang="en-US" sz="1000" dirty="0"/>
          </a:p>
        </p:txBody>
      </p:sp>
      <p:sp>
        <p:nvSpPr>
          <p:cNvPr id="3" name="Left Band"/>
          <p:cNvSpPr/>
          <p:nvPr/>
        </p:nvSpPr>
        <p:spPr>
          <a:xfrm>
            <a:off x="566928" y="987552"/>
            <a:ext cx="3246120" cy="4480560"/>
          </a:xfrm>
          <a:prstGeom prst="rect">
            <a:avLst/>
          </a:prstGeom>
          <a:solidFill>
            <a:srgbClr val="6F2430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ection Label"/>
          <p:cNvSpPr txBox="1"/>
          <p:nvPr/>
        </p:nvSpPr>
        <p:spPr>
          <a:xfrm>
            <a:off x="868680" y="141732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101600" rIns="101600" tIns="101600" bIns="101600"/>
          <a:lstStyle/>
          <a:p>
            <a:pPr algn="l"/>
            <a:r>
              <a:rPr lang="en-US" sz="1200" b="1" dirty="0" smtClean="0">
                <a:solidFill>
                  <a:srgbClr val="FCF6EE"/>
                </a:solidFill>
                <a:latin typeface="IBM Plex Mono"/>
                <a:ea typeface="IBM Plex Mono"/>
                <a:cs typeface="IBM Plex Mono"/>
              </a:rPr>
              <a:t>GRAND HOTEL PANNONIA</a:t>
            </a:r>
            <a:endParaRPr lang="en-US" sz="1200" dirty="0"/>
          </a:p>
        </p:txBody>
      </p:sp>
      <p:sp>
        <p:nvSpPr>
          <p:cNvPr id="5" name="Section Title"/>
          <p:cNvSpPr txBox="1"/>
          <p:nvPr/>
        </p:nvSpPr>
        <p:spPr>
          <a:xfrm>
            <a:off x="868680" y="1920240"/>
            <a:ext cx="2194560" cy="1737360"/>
          </a:xfrm>
          <a:prstGeom prst="rect">
            <a:avLst/>
          </a:prstGeom>
          <a:noFill/>
          <a:ln>
            <a:noFill/>
          </a:ln>
        </p:spPr>
        <p:txBody>
          <a:bodyPr wrap="square" anchor="t" lIns="101600" rIns="101600" tIns="101600" bIns="101600"/>
          <a:lstStyle/>
          <a:p>
            <a:pPr algn="l"/>
            <a:r>
              <a:rPr lang="en-US" sz="2800" b="1" dirty="0" smtClean="0">
                <a:solidFill>
                  <a:srgbClr val="FCF6EE"/>
                </a:solidFill>
                <a:latin typeface="Playfair Display"/>
                <a:ea typeface="Playfair Display"/>
                <a:cs typeface="Playfair Display"/>
              </a:rPr>
              <a:t>A customizable</a:t>
            </a:r>
            <a:endParaRPr lang="en-US" sz="2800" dirty="0"/>
          </a:p>
          <a:p>
            <a:pPr algn="l"/>
            <a:r>
              <a:rPr lang="en-US" sz="2800" i="1" dirty="0" smtClean="0">
                <a:solidFill>
                  <a:srgbClr val="FCF6EE"/>
                </a:solidFill>
                <a:latin typeface="Playfair Display"/>
                <a:ea typeface="Playfair Display"/>
                <a:cs typeface="Playfair Display"/>
              </a:rPr>
              <a:t>immersive hotel</a:t>
            </a:r>
            <a:endParaRPr lang="en-US" sz="2800" dirty="0"/>
          </a:p>
          <a:p>
            <a:pPr algn="l"/>
            <a:r>
              <a:rPr lang="en-US" sz="2400" i="1" dirty="0" smtClean="0">
                <a:solidFill>
                  <a:srgbClr val="FCF6EE"/>
                </a:solidFill>
                <a:latin typeface="Playfair Display"/>
                <a:ea typeface="Playfair Display"/>
                <a:cs typeface="Playfair Display"/>
              </a:rPr>
              <a:t>gaming experience</a:t>
            </a:r>
            <a:endParaRPr lang="en-US" sz="2400" dirty="0"/>
          </a:p>
        </p:txBody>
      </p:sp>
      <p:sp>
        <p:nvSpPr>
          <p:cNvPr id="6" name="Section Note"/>
          <p:cNvSpPr txBox="1"/>
          <p:nvPr/>
        </p:nvSpPr>
        <p:spPr>
          <a:xfrm>
            <a:off x="868680" y="4160520"/>
            <a:ext cx="214884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101600" rIns="101600" tIns="101600" bIns="101600"/>
          <a:lstStyle/>
          <a:p>
            <a:pPr algn="l"/>
            <a:r>
              <a:rPr lang="en-US" sz="1100" dirty="0" smtClean="0">
                <a:solidFill>
                  <a:srgbClr val="FCF6EE"/>
                </a:solidFill>
                <a:latin typeface="IBM Plex Mono"/>
                <a:ea typeface="IBM Plex Mono"/>
                <a:cs typeface="IBM Plex Mono"/>
              </a:rPr>
              <a:t>Grand Hotel Pannonia turns a hotel's story, mood, and lore into a playable digital experience.</a:t>
            </a:r>
            <a:endParaRPr lang="en-US" sz="1100" dirty="0"/>
          </a:p>
        </p:txBody>
      </p:sp>
      <p:sp>
        <p:nvSpPr>
          <p:cNvPr id="7" name="Main Title"/>
          <p:cNvSpPr txBox="1"/>
          <p:nvPr/>
        </p:nvSpPr>
        <p:spPr>
          <a:xfrm>
            <a:off x="4069080" y="1353312"/>
            <a:ext cx="6766560" cy="1097280"/>
          </a:xfrm>
          <a:prstGeom prst="rect">
            <a:avLst/>
          </a:prstGeom>
          <a:noFill/>
          <a:ln>
            <a:noFill/>
          </a:ln>
        </p:spPr>
        <p:txBody>
          <a:bodyPr wrap="square" anchor="t" lIns="101600" rIns="101600" tIns="101600" bIns="101600"/>
          <a:lstStyle/>
          <a:p>
            <a:pPr algn="l"/>
            <a:r>
              <a:rPr lang="en-US" sz="2700" i="1" dirty="0" smtClean="0">
                <a:solidFill>
                  <a:srgbClr val="2D1D16"/>
                </a:solidFill>
                <a:latin typeface="Playfair Display"/>
                <a:ea typeface="Playfair Display"/>
                <a:cs typeface="Playfair Display"/>
              </a:rPr>
              <a:t>Customization can scale because the system is already built</a:t>
            </a:r>
            <a:endParaRPr lang="en-US" sz="2700" dirty="0"/>
          </a:p>
        </p:txBody>
      </p:sp>
      <p:sp>
        <p:nvSpPr>
          <p:cNvPr id="8" name="Card One"/>
          <p:cNvSpPr/>
          <p:nvPr/>
        </p:nvSpPr>
        <p:spPr>
          <a:xfrm>
            <a:off x="4078224" y="2103120"/>
            <a:ext cx="2148840" cy="2286000"/>
          </a:xfrm>
          <a:prstGeom prst="rect">
            <a:avLst/>
          </a:prstGeom>
          <a:solidFill>
            <a:srgbClr val="FCF6EE"/>
          </a:solidFill>
          <a:ln w="10160">
            <a:solidFill>
              <a:srgbClr val="D8CBBE"/>
            </a:solidFill>
          </a:ln>
        </p:spPr>
        <p:txBody>
          <a:bodyPr/>
          <a:lstStyle/>
          <a:p/>
        </p:txBody>
      </p:sp>
      <p:sp>
        <p:nvSpPr>
          <p:cNvPr id="9" name="Card Two"/>
          <p:cNvSpPr/>
          <p:nvPr/>
        </p:nvSpPr>
        <p:spPr>
          <a:xfrm>
            <a:off x="6364224" y="2103120"/>
            <a:ext cx="2148840" cy="2286000"/>
          </a:xfrm>
          <a:prstGeom prst="rect">
            <a:avLst/>
          </a:prstGeom>
          <a:solidFill>
            <a:srgbClr val="FCF6EE"/>
          </a:solidFill>
          <a:ln w="10160">
            <a:solidFill>
              <a:srgbClr val="D8CBBE"/>
            </a:solidFill>
          </a:ln>
        </p:spPr>
        <p:txBody>
          <a:bodyPr/>
          <a:lstStyle/>
          <a:p/>
        </p:txBody>
      </p:sp>
      <p:sp>
        <p:nvSpPr>
          <p:cNvPr id="10" name="Card Three"/>
          <p:cNvSpPr/>
          <p:nvPr/>
        </p:nvSpPr>
        <p:spPr>
          <a:xfrm>
            <a:off x="8650224" y="2103120"/>
            <a:ext cx="2148840" cy="2286000"/>
          </a:xfrm>
          <a:prstGeom prst="rect">
            <a:avLst/>
          </a:prstGeom>
          <a:solidFill>
            <a:srgbClr val="FCF6EE"/>
          </a:solidFill>
          <a:ln w="10160">
            <a:solidFill>
              <a:srgbClr val="D8CBBE"/>
            </a:solidFill>
          </a:ln>
        </p:spPr>
        <p:txBody>
          <a:bodyPr/>
          <a:lstStyle/>
          <a:p/>
        </p:txBody>
      </p:sp>
      <p:sp>
        <p:nvSpPr>
          <p:cNvPr id="11" name="Card One Text"/>
          <p:cNvSpPr txBox="1"/>
          <p:nvPr/>
        </p:nvSpPr>
        <p:spPr>
          <a:xfrm>
            <a:off x="4279392" y="2359152"/>
            <a:ext cx="173736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t" lIns="101600" rIns="101600" tIns="101600" bIns="101600"/>
          <a:lstStyle/>
          <a:p>
            <a:pPr algn="l"/>
            <a:r>
              <a:rPr lang="en-US" sz="1800" i="1" dirty="0" smtClean="0">
                <a:solidFill>
                  <a:srgbClr val="6F2430"/>
                </a:solidFill>
                <a:latin typeface="Playfair Display"/>
                <a:ea typeface="Playfair Display"/>
                <a:cs typeface="Playfair Display"/>
              </a:rPr>
              <a:t>Immersive</a:t>
            </a:r>
            <a:endParaRPr lang="en-US" sz="1800" dirty="0"/>
          </a:p>
          <a:p>
            <a:pPr algn="l"/>
            <a:r>
              <a:rPr lang="en-US" sz="1300" dirty="0" smtClean="0">
                <a:solidFill>
                  <a:srgbClr val="6F584B"/>
                </a:solidFill>
                <a:latin typeface="IBM Plex Mono"/>
                <a:ea typeface="IBM Plex Mono"/>
                <a:cs typeface="IBM Plex Mono"/>
              </a:rPr>
              <a:t>Guests do not just consume content. They enter a mystery world.</a:t>
            </a:r>
            <a:endParaRPr lang="en-US" sz="1300" dirty="0"/>
          </a:p>
        </p:txBody>
      </p:sp>
      <p:sp>
        <p:nvSpPr>
          <p:cNvPr id="12" name="Card Two Text"/>
          <p:cNvSpPr txBox="1"/>
          <p:nvPr/>
        </p:nvSpPr>
        <p:spPr>
          <a:xfrm>
            <a:off x="6565392" y="2359152"/>
            <a:ext cx="173736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t" lIns="101600" rIns="101600" tIns="101600" bIns="101600"/>
          <a:lstStyle/>
          <a:p>
            <a:pPr algn="l"/>
            <a:r>
              <a:rPr lang="en-US" sz="1800" i="1" dirty="0" smtClean="0">
                <a:solidFill>
                  <a:srgbClr val="6F2430"/>
                </a:solidFill>
                <a:latin typeface="Playfair Display"/>
                <a:ea typeface="Playfair Display"/>
                <a:cs typeface="Playfair Display"/>
              </a:rPr>
              <a:t>Customizable</a:t>
            </a:r>
            <a:endParaRPr lang="en-US" sz="1800" dirty="0"/>
          </a:p>
          <a:p>
            <a:pPr algn="l"/>
            <a:r>
              <a:rPr lang="en-US" sz="1300" dirty="0" smtClean="0">
                <a:solidFill>
                  <a:srgbClr val="6F584B"/>
                </a:solidFill>
                <a:latin typeface="IBM Plex Mono"/>
                <a:ea typeface="IBM Plex Mono"/>
                <a:cs typeface="IBM Plex Mono"/>
              </a:rPr>
              <a:t>Lore, visual identity, and atmosphere can be adapted to a specific hotel brand.</a:t>
            </a:r>
            <a:endParaRPr lang="en-US" sz="1300" dirty="0"/>
          </a:p>
        </p:txBody>
      </p:sp>
      <p:sp>
        <p:nvSpPr>
          <p:cNvPr id="13" name="Card Three Text"/>
          <p:cNvSpPr txBox="1"/>
          <p:nvPr/>
        </p:nvSpPr>
        <p:spPr>
          <a:xfrm>
            <a:off x="8851392" y="2359152"/>
            <a:ext cx="173736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t" lIns="101600" rIns="101600" tIns="101600" bIns="101600"/>
          <a:lstStyle/>
          <a:p>
            <a:pPr algn="l"/>
            <a:r>
              <a:rPr lang="en-US" sz="1800" i="1" dirty="0" smtClean="0">
                <a:solidFill>
                  <a:srgbClr val="6F2430"/>
                </a:solidFill>
                <a:latin typeface="Playfair Display"/>
                <a:ea typeface="Playfair Display"/>
                <a:cs typeface="Playfair Display"/>
              </a:rPr>
              <a:t>Scalable</a:t>
            </a:r>
            <a:endParaRPr lang="en-US" sz="1800" dirty="0"/>
          </a:p>
          <a:p>
            <a:pPr algn="l"/>
            <a:r>
              <a:rPr lang="en-US" sz="1300" dirty="0" smtClean="0">
                <a:solidFill>
                  <a:srgbClr val="6F584B"/>
                </a:solidFill>
                <a:latin typeface="IBM Plex Mono"/>
                <a:ea typeface="IBM Plex Mono"/>
                <a:cs typeface="IBM Plex Mono"/>
              </a:rPr>
              <a:t>Moodboards and the design system already live in code, so reskinning gets faster over time.</a:t>
            </a:r>
            <a:endParaRPr lang="en-US" sz="1300" dirty="0"/>
          </a:p>
        </p:txBody>
      </p:sp>
      <p:sp>
        <p:nvSpPr>
          <p:cNvPr id="14" name="Bottom Rule"/>
          <p:cNvSpPr/>
          <p:nvPr/>
        </p:nvSpPr>
        <p:spPr>
          <a:xfrm>
            <a:off x="4078224" y="4663440"/>
            <a:ext cx="2011680" cy="27432"/>
          </a:xfrm>
          <a:prstGeom prst="rect">
            <a:avLst/>
          </a:prstGeom>
          <a:solidFill>
            <a:srgbClr val="B08A3E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rototype Line"/>
          <p:cNvSpPr txBox="1"/>
          <p:nvPr/>
        </p:nvSpPr>
        <p:spPr>
          <a:xfrm>
            <a:off x="4078224" y="4828032"/>
            <a:ext cx="640080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 lIns="101600" rIns="101600" tIns="101600" bIns="101600"/>
          <a:lstStyle/>
          <a:p>
            <a:pPr algn="l"/>
            <a:r>
              <a:rPr lang="en-US" sz="1200" dirty="0" smtClean="0">
                <a:solidFill>
                  <a:srgbClr val="31463A"/>
                </a:solidFill>
                <a:latin typeface="IBM Plex Mono"/>
                <a:ea typeface="IBM Plex Mono"/>
                <a:cs typeface="IBM Plex Mono"/>
              </a:rPr>
              <a:t>Show the current moodboard in the center and the previous ones around it to make customization tangible.</a:t>
            </a:r>
            <a:endParaRPr lang="en-US" sz="1200" dirty="0"/>
          </a:p>
        </p:txBody>
      </p:sp>
      <p:sp>
        <p:nvSpPr>
          <p:cNvPr id="16" name="Footer Label"/>
          <p:cNvSpPr txBox="1"/>
          <p:nvPr/>
        </p:nvSpPr>
        <p:spPr>
          <a:xfrm>
            <a:off x="10835640" y="6419088"/>
            <a:ext cx="8686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rIns="101600" tIns="101600" bIns="101600"/>
          <a:lstStyle/>
          <a:p>
            <a:pPr algn="l"/>
            <a:r>
              <a:rPr lang="en-US" sz="900" dirty="0" smtClean="0">
                <a:solidFill>
                  <a:srgbClr val="6F584B"/>
                </a:solidFill>
                <a:latin typeface="IBM Plex Mono"/>
                <a:ea typeface="IBM Plex Mono"/>
                <a:cs typeface="IBM Plex Mono"/>
              </a:rPr>
              <a:t>PAGE 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icing And Mark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 Tab"/>
          <p:cNvSpPr txBox="1"/>
          <p:nvPr/>
        </p:nvSpPr>
        <p:spPr>
          <a:xfrm>
            <a:off x="475488" y="310896"/>
            <a:ext cx="2560320" cy="310896"/>
          </a:xfrm>
          <a:prstGeom prst="rect">
            <a:avLst/>
          </a:prstGeom>
          <a:solidFill>
            <a:srgbClr val="E9D8C0"/>
          </a:solidFill>
          <a:ln w="7620">
            <a:solidFill>
              <a:srgbClr val="D8CBBE"/>
            </a:solidFill>
          </a:ln>
        </p:spPr>
        <p:txBody>
          <a:bodyPr wrap="square" anchor="ctr" lIns="101600" rIns="101600" tIns="101600" bIns="101600"/>
          <a:lstStyle/>
          <a:p>
            <a:pPr algn="l"/>
            <a:r>
              <a:rPr lang="en-US" sz="1000" b="1" dirty="0" smtClean="0">
                <a:solidFill>
                  <a:srgbClr val="6F584B"/>
                </a:solidFill>
                <a:latin typeface="IBM Plex Mono"/>
                <a:ea typeface="IBM Plex Mono"/>
                <a:cs typeface="IBM Plex Mono"/>
              </a:rPr>
              <a:t>SLIDE 03 / PRICING + MARKET</a:t>
            </a:r>
            <a:endParaRPr lang="en-US" sz="1000" dirty="0"/>
          </a:p>
        </p:txBody>
      </p:sp>
      <p:sp>
        <p:nvSpPr>
          <p:cNvPr id="3" name="Slide Title"/>
          <p:cNvSpPr txBox="1"/>
          <p:nvPr/>
        </p:nvSpPr>
        <p:spPr>
          <a:xfrm>
            <a:off x="713232" y="1060704"/>
            <a:ext cx="448056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101600" rIns="101600" tIns="101600" bIns="101600"/>
          <a:lstStyle/>
          <a:p>
            <a:pPr algn="l"/>
            <a:r>
              <a:rPr lang="en-US" sz="2500" i="1" dirty="0" smtClean="0">
                <a:solidFill>
                  <a:srgbClr val="2D1D16"/>
                </a:solidFill>
                <a:latin typeface="Playfair Display"/>
                <a:ea typeface="Playfair Display"/>
                <a:cs typeface="Playfair Display"/>
              </a:rPr>
              <a:t>At EUR 10k customization, Europe alone is already a meaningful wedge.</a:t>
            </a:r>
            <a:endParaRPr lang="en-US" sz="2500" dirty="0"/>
          </a:p>
        </p:txBody>
      </p:sp>
      <p:sp>
        <p:nvSpPr>
          <p:cNvPr id="4" name="Slide Subtitle"/>
          <p:cNvSpPr txBox="1"/>
          <p:nvPr/>
        </p:nvSpPr>
        <p:spPr>
          <a:xfrm>
            <a:off x="713232" y="1572768"/>
            <a:ext cx="53949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101600" rIns="101600" tIns="101600" bIns="101600"/>
          <a:lstStyle/>
          <a:p>
            <a:pPr algn="l"/>
            <a:r>
              <a:rPr lang="en-US" sz="1200" dirty="0" smtClean="0">
                <a:solidFill>
                  <a:srgbClr val="6F584B"/>
                </a:solidFill>
                <a:latin typeface="IBM Plex Mono"/>
                <a:ea typeface="IBM Plex Mono"/>
                <a:cs typeface="IBM Plex Mono"/>
              </a:rPr>
              <a:t>Storyline framing: lore + hotel identity customization first, recurring channels and app sales upside later.</a:t>
            </a:r>
            <a:endParaRPr lang="en-US" sz="1200" dirty="0"/>
          </a:p>
        </p:txBody>
      </p:sp>
      <p:sp>
        <p:nvSpPr>
          <p:cNvPr id="5" name="Main Panel"/>
          <p:cNvSpPr/>
          <p:nvPr/>
        </p:nvSpPr>
        <p:spPr>
          <a:xfrm>
            <a:off x="713232" y="1920240"/>
            <a:ext cx="3703320" cy="3154680"/>
          </a:xfrm>
          <a:prstGeom prst="rect">
            <a:avLst/>
          </a:prstGeom>
          <a:solidFill>
            <a:srgbClr val="FCF6EE"/>
          </a:solidFill>
          <a:ln w="10160">
            <a:solidFill>
              <a:srgbClr val="D8CBBE"/>
            </a:solidFill>
          </a:ln>
        </p:spPr>
        <p:txBody>
          <a:bodyPr/>
          <a:lstStyle/>
          <a:p/>
        </p:txBody>
      </p:sp>
      <p:sp>
        <p:nvSpPr>
          <p:cNvPr id="6" name="Main Label"/>
          <p:cNvSpPr txBox="1"/>
          <p:nvPr/>
        </p:nvSpPr>
        <p:spPr>
          <a:xfrm>
            <a:off x="914400" y="2084832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101600" rIns="101600" tIns="101600" bIns="101600"/>
          <a:lstStyle/>
          <a:p>
            <a:pPr algn="l"/>
            <a:r>
              <a:rPr lang="en-US" sz="1000" b="1" dirty="0" smtClean="0">
                <a:solidFill>
                  <a:srgbClr val="6F2430"/>
                </a:solidFill>
                <a:latin typeface="IBM Plex Mono"/>
                <a:ea typeface="IBM Plex Mono"/>
                <a:cs typeface="IBM Plex Mono"/>
              </a:rPr>
              <a:t>WHAT WE CHARGE</a:t>
            </a:r>
            <a:endParaRPr lang="en-US" sz="1000" dirty="0"/>
          </a:p>
        </p:txBody>
      </p:sp>
      <p:sp>
        <p:nvSpPr>
          <p:cNvPr id="7" name="Main Body"/>
          <p:cNvSpPr txBox="1"/>
          <p:nvPr/>
        </p:nvSpPr>
        <p:spPr>
          <a:xfrm>
            <a:off x="914400" y="2468880"/>
            <a:ext cx="3246120" cy="228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1600" rIns="101600" tIns="101600" bIns="101600"/>
          <a:lstStyle/>
          <a:p>
            <a:pPr algn="l"/>
            <a:r>
              <a:rPr lang="en-US" sz="2200" b="1" dirty="0" smtClean="0">
                <a:solidFill>
                  <a:srgbClr val="2D1D16"/>
                </a:solidFill>
                <a:latin typeface="Playfair Display"/>
                <a:ea typeface="Playfair Display"/>
                <a:cs typeface="Playfair Display"/>
              </a:rPr>
              <a:t>EUR 10,000</a:t>
            </a:r>
            <a:endParaRPr lang="en-US" sz="2200" dirty="0"/>
          </a:p>
          <a:p>
            <a:pPr algn="l"/>
            <a:r>
              <a:rPr lang="en-US" sz="1400" dirty="0" smtClean="0">
                <a:solidFill>
                  <a:srgbClr val="6F584B"/>
                </a:solidFill>
                <a:latin typeface="IBM Plex Mono"/>
                <a:ea typeface="IBM Plex Mono"/>
                <a:cs typeface="IBM Plex Mono"/>
              </a:rPr>
              <a:t>for customization of lore and hotel identity.</a:t>
            </a:r>
            <a:endParaRPr lang="en-US" sz="1400" dirty="0"/>
          </a:p>
          <a:p>
            <a:pPr algn="l"/>
            <a:r>
              <a:rPr lang="en-US" sz="1400" dirty="0" smtClean="0">
                <a:solidFill>
                  <a:srgbClr val="6F584B"/>
                </a:solidFill>
                <a:latin typeface="IBM Plex Mono"/>
                <a:ea typeface="IBM Plex Mono"/>
                <a:cs typeface="IBM Plex Mono"/>
              </a:rPr>
              <a:t>This is the one-time setup wedge used in the story.</a:t>
            </a:r>
            <a:endParaRPr lang="en-US" sz="1400" dirty="0"/>
          </a:p>
        </p:txBody>
      </p:sp>
      <p:sp>
        <p:nvSpPr>
          <p:cNvPr id="8" name="Middle Panel"/>
          <p:cNvSpPr/>
          <p:nvPr/>
        </p:nvSpPr>
        <p:spPr>
          <a:xfrm>
            <a:off x="4626864" y="1920240"/>
            <a:ext cx="2834640" cy="3154680"/>
          </a:xfrm>
          <a:prstGeom prst="rect">
            <a:avLst/>
          </a:prstGeom>
          <a:solidFill>
            <a:srgbClr val="E9D8C0"/>
          </a:solidFill>
          <a:ln w="10160">
            <a:solidFill>
              <a:srgbClr val="D8CBBE"/>
            </a:solidFill>
          </a:ln>
        </p:spPr>
        <p:txBody>
          <a:bodyPr/>
          <a:lstStyle/>
          <a:p/>
        </p:txBody>
      </p:sp>
      <p:sp>
        <p:nvSpPr>
          <p:cNvPr id="9" name="Middle Label"/>
          <p:cNvSpPr txBox="1"/>
          <p:nvPr/>
        </p:nvSpPr>
        <p:spPr>
          <a:xfrm>
            <a:off x="4828032" y="2084832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101600" rIns="101600" tIns="101600" bIns="101600"/>
          <a:lstStyle/>
          <a:p>
            <a:pPr algn="l"/>
            <a:r>
              <a:rPr lang="en-US" sz="1000" b="1" dirty="0" smtClean="0">
                <a:solidFill>
                  <a:srgbClr val="6F2430"/>
                </a:solidFill>
                <a:latin typeface="IBM Plex Mono"/>
                <a:ea typeface="IBM Plex Mono"/>
                <a:cs typeface="IBM Plex Mono"/>
              </a:rPr>
              <a:t>EUROPE WEDGE</a:t>
            </a:r>
            <a:endParaRPr lang="en-US" sz="1000" dirty="0"/>
          </a:p>
        </p:txBody>
      </p:sp>
      <p:sp>
        <p:nvSpPr>
          <p:cNvPr id="10" name="Middle Body"/>
          <p:cNvSpPr txBox="1"/>
          <p:nvPr/>
        </p:nvSpPr>
        <p:spPr>
          <a:xfrm>
            <a:off x="4828032" y="2487168"/>
            <a:ext cx="2377440" cy="2103120"/>
          </a:xfrm>
          <a:prstGeom prst="rect">
            <a:avLst/>
          </a:prstGeom>
          <a:noFill/>
          <a:ln>
            <a:noFill/>
          </a:ln>
        </p:spPr>
        <p:txBody>
          <a:bodyPr wrap="square" anchor="t" lIns="101600" rIns="101600" tIns="101600" bIns="101600"/>
          <a:lstStyle/>
          <a:p>
            <a:pPr algn="l"/>
            <a:r>
              <a:rPr lang="en-US" sz="2200" b="1" dirty="0" smtClean="0">
                <a:solidFill>
                  <a:srgbClr val="2D1D16"/>
                </a:solidFill>
                <a:latin typeface="Playfair Display"/>
                <a:ea typeface="Playfair Display"/>
                <a:cs typeface="Playfair Display"/>
              </a:rPr>
              <a:t>Approx. EUR 400m+</a:t>
            </a:r>
            <a:endParaRPr lang="en-US" sz="2200" dirty="0"/>
          </a:p>
          <a:p>
            <a:pPr algn="l"/>
            <a:r>
              <a:rPr lang="en-US" sz="1300" dirty="0" smtClean="0">
                <a:solidFill>
                  <a:srgbClr val="6F584B"/>
                </a:solidFill>
                <a:latin typeface="IBM Plex Mono"/>
                <a:ea typeface="IBM Plex Mono"/>
                <a:cs typeface="IBM Plex Mono"/>
              </a:rPr>
              <a:t>using European premium + luxury hotels as the initial market frame.</a:t>
            </a:r>
            <a:endParaRPr lang="en-US" sz="1300" dirty="0"/>
          </a:p>
          <a:p>
            <a:pPr algn="l"/>
            <a:r>
              <a:rPr lang="en-US" sz="1300" dirty="0" smtClean="0">
                <a:solidFill>
                  <a:srgbClr val="6F584B"/>
                </a:solidFill>
                <a:latin typeface="IBM Plex Mono"/>
                <a:ea typeface="IBM Plex Mono"/>
                <a:cs typeface="IBM Plex Mono"/>
              </a:rPr>
              <a:t>Use the waterfall chart here.</a:t>
            </a:r>
            <a:endParaRPr lang="en-US" sz="1300" dirty="0"/>
          </a:p>
        </p:txBody>
      </p:sp>
      <p:sp>
        <p:nvSpPr>
          <p:cNvPr id="11" name="Side Panel"/>
          <p:cNvSpPr/>
          <p:nvPr/>
        </p:nvSpPr>
        <p:spPr>
          <a:xfrm>
            <a:off x="7680960" y="1920240"/>
            <a:ext cx="3493008" cy="3154680"/>
          </a:xfrm>
          <a:prstGeom prst="rect">
            <a:avLst/>
          </a:prstGeom>
          <a:solidFill>
            <a:srgbClr val="FCF6EE"/>
          </a:solidFill>
          <a:ln w="10160">
            <a:solidFill>
              <a:srgbClr val="D8CBBE"/>
            </a:solidFill>
          </a:ln>
        </p:spPr>
        <p:txBody>
          <a:bodyPr/>
          <a:lstStyle/>
          <a:p/>
        </p:txBody>
      </p:sp>
      <p:sp>
        <p:nvSpPr>
          <p:cNvPr id="12" name="Side Label"/>
          <p:cNvSpPr txBox="1"/>
          <p:nvPr/>
        </p:nvSpPr>
        <p:spPr>
          <a:xfrm>
            <a:off x="7882128" y="2084832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101600" rIns="101600" tIns="101600" bIns="101600"/>
          <a:lstStyle/>
          <a:p>
            <a:pPr algn="l"/>
            <a:r>
              <a:rPr lang="en-US" sz="1000" b="1" dirty="0" smtClean="0">
                <a:solidFill>
                  <a:srgbClr val="6F2430"/>
                </a:solidFill>
                <a:latin typeface="IBM Plex Mono"/>
                <a:ea typeface="IBM Plex Mono"/>
                <a:cs typeface="IBM Plex Mono"/>
              </a:rPr>
              <a:t>WHY THIS MATTERS</a:t>
            </a:r>
            <a:endParaRPr lang="en-US" sz="1000" dirty="0"/>
          </a:p>
        </p:txBody>
      </p:sp>
      <p:sp>
        <p:nvSpPr>
          <p:cNvPr id="13" name="Side Body"/>
          <p:cNvSpPr txBox="1"/>
          <p:nvPr/>
        </p:nvSpPr>
        <p:spPr>
          <a:xfrm>
            <a:off x="7882128" y="2487168"/>
            <a:ext cx="2788920" cy="2084832"/>
          </a:xfrm>
          <a:prstGeom prst="rect">
            <a:avLst/>
          </a:prstGeom>
          <a:noFill/>
          <a:ln>
            <a:noFill/>
          </a:ln>
        </p:spPr>
        <p:txBody>
          <a:bodyPr wrap="square" anchor="t" lIns="101600" rIns="101600" tIns="101600" bIns="101600"/>
          <a:lstStyle/>
          <a:p>
            <a:pPr algn="l"/>
            <a:r>
              <a:rPr lang="en-US" sz="1300" dirty="0" smtClean="0">
                <a:solidFill>
                  <a:srgbClr val="6F584B"/>
                </a:solidFill>
                <a:latin typeface="IBM Plex Mono"/>
                <a:ea typeface="IBM Plex Mono"/>
                <a:cs typeface="IBM Plex Mono"/>
              </a:rPr>
              <a:t>This does not yet include</a:t>
            </a:r>
            <a:endParaRPr lang="en-US" sz="1300" dirty="0"/>
          </a:p>
          <a:p>
            <a:pPr algn="l"/>
            <a:r>
              <a:rPr lang="en-US" sz="2000" b="1" dirty="0" smtClean="0">
                <a:solidFill>
                  <a:srgbClr val="31463A"/>
                </a:solidFill>
                <a:latin typeface="Playfair Display"/>
                <a:ea typeface="Playfair Display"/>
                <a:cs typeface="Playfair Display"/>
              </a:rPr>
              <a:t>recurring revenue</a:t>
            </a:r>
            <a:endParaRPr lang="en-US" sz="2000" dirty="0"/>
          </a:p>
          <a:p>
            <a:pPr algn="l"/>
            <a:r>
              <a:rPr lang="en-US" sz="1300" dirty="0" smtClean="0">
                <a:solidFill>
                  <a:srgbClr val="6F584B"/>
                </a:solidFill>
                <a:latin typeface="IBM Plex Mono"/>
                <a:ea typeface="IBM Plex Mono"/>
                <a:cs typeface="IBM Plex Mono"/>
              </a:rPr>
              <a:t>from maintenance, seasonal stories, or traditional app sales channels.</a:t>
            </a:r>
            <a:endParaRPr lang="en-US" sz="1300" dirty="0"/>
          </a:p>
        </p:txBody>
      </p:sp>
      <p:sp>
        <p:nvSpPr>
          <p:cNvPr id="14" name="Footer Label"/>
          <p:cNvSpPr txBox="1"/>
          <p:nvPr/>
        </p:nvSpPr>
        <p:spPr>
          <a:xfrm>
            <a:off x="10835640" y="6419088"/>
            <a:ext cx="8686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rIns="101600" tIns="101600" bIns="101600"/>
          <a:lstStyle/>
          <a:p>
            <a:pPr algn="l"/>
            <a:r>
              <a:rPr lang="en-US" sz="900" dirty="0" smtClean="0">
                <a:solidFill>
                  <a:srgbClr val="6F584B"/>
                </a:solidFill>
                <a:latin typeface="IBM Plex Mono"/>
                <a:ea typeface="IBM Plex Mono"/>
                <a:cs typeface="IBM Plex Mono"/>
              </a:rPr>
              <a:t>PAGE 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o To Mark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 Tab"/>
          <p:cNvSpPr txBox="1"/>
          <p:nvPr/>
        </p:nvSpPr>
        <p:spPr>
          <a:xfrm>
            <a:off x="475488" y="310896"/>
            <a:ext cx="2834640" cy="310896"/>
          </a:xfrm>
          <a:prstGeom prst="rect">
            <a:avLst/>
          </a:prstGeom>
          <a:solidFill>
            <a:srgbClr val="E9D8C0"/>
          </a:solidFill>
          <a:ln w="7620">
            <a:solidFill>
              <a:srgbClr val="D8CBBE"/>
            </a:solidFill>
          </a:ln>
        </p:spPr>
        <p:txBody>
          <a:bodyPr wrap="square" anchor="ctr" lIns="101600" rIns="101600" tIns="101600" bIns="101600"/>
          <a:lstStyle/>
          <a:p>
            <a:pPr algn="l"/>
            <a:r>
              <a:rPr lang="en-US" sz="1000" b="1" dirty="0" smtClean="0">
                <a:solidFill>
                  <a:srgbClr val="6F584B"/>
                </a:solidFill>
                <a:latin typeface="IBM Plex Mono"/>
                <a:ea typeface="IBM Plex Mono"/>
                <a:cs typeface="IBM Plex Mono"/>
              </a:rPr>
              <a:t>SLIDE 04 / GO-TO-MARKET</a:t>
            </a:r>
            <a:endParaRPr lang="en-US" sz="1000" dirty="0"/>
          </a:p>
        </p:txBody>
      </p:sp>
      <p:sp>
        <p:nvSpPr>
          <p:cNvPr id="3" name="Title"/>
          <p:cNvSpPr txBox="1"/>
          <p:nvPr/>
        </p:nvSpPr>
        <p:spPr>
          <a:xfrm>
            <a:off x="713232" y="1042416"/>
            <a:ext cx="5577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101600" rIns="101600" tIns="101600" bIns="101600"/>
          <a:lstStyle/>
          <a:p>
            <a:pPr algn="l"/>
            <a:r>
              <a:rPr lang="en-US" sz="2500" i="1" dirty="0" smtClean="0">
                <a:solidFill>
                  <a:srgbClr val="2D1D16"/>
                </a:solidFill>
                <a:latin typeface="Playfair Display"/>
                <a:ea typeface="Playfair Display"/>
                <a:cs typeface="Playfair Display"/>
              </a:rPr>
              <a:t>Start with email outreach to hotel managers using the live prototype as proof.</a:t>
            </a:r>
            <a:endParaRPr lang="en-US" sz="2500" dirty="0"/>
          </a:p>
        </p:txBody>
      </p:sp>
      <p:sp>
        <p:nvSpPr>
          <p:cNvPr id="4" name="Image Frame"/>
          <p:cNvSpPr/>
          <p:nvPr/>
        </p:nvSpPr>
        <p:spPr>
          <a:xfrm>
            <a:off x="713232" y="1783080"/>
            <a:ext cx="5806440" cy="3611880"/>
          </a:xfrm>
          <a:prstGeom prst="rect">
            <a:avLst/>
          </a:prstGeom>
          <a:solidFill>
            <a:srgbClr val="FCF6EE"/>
          </a:solidFill>
          <a:ln w="12700">
            <a:solidFill>
              <a:srgbClr val="B08A3E"/>
            </a:solidFill>
          </a:ln>
        </p:spPr>
        <p:txBody>
          <a:bodyPr/>
          <a:lstStyle/>
          <a:p/>
        </p:txBody>
      </p:sp>
      <p:sp>
        <p:nvSpPr>
          <p:cNvPr id="5" name="First Ten Label"/>
          <p:cNvSpPr txBox="1"/>
          <p:nvPr/>
        </p:nvSpPr>
        <p:spPr>
          <a:xfrm>
            <a:off x="960120" y="1993392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101600" rIns="101600" tIns="101600" bIns="101600"/>
          <a:lstStyle/>
          <a:p>
            <a:pPr algn="l"/>
            <a:r>
              <a:rPr lang="en-US" sz="1000" b="1" dirty="0" smtClean="0">
                <a:solidFill>
                  <a:srgbClr val="6F2430"/>
                </a:solidFill>
                <a:latin typeface="IBM Plex Mono"/>
                <a:ea typeface="IBM Plex Mono"/>
                <a:cs typeface="IBM Plex Mono"/>
              </a:rPr>
              <a:t>OUTREACH SEQUENCE</a:t>
            </a:r>
            <a:endParaRPr lang="en-US" sz="1000" dirty="0"/>
          </a:p>
        </p:txBody>
      </p:sp>
      <p:sp>
        <p:nvSpPr>
          <p:cNvPr id="6" name="First Ten Body"/>
          <p:cNvSpPr txBox="1"/>
          <p:nvPr/>
        </p:nvSpPr>
        <p:spPr>
          <a:xfrm>
            <a:off x="960120" y="2377440"/>
            <a:ext cx="5074920" cy="2423160"/>
          </a:xfrm>
          <a:prstGeom prst="rect">
            <a:avLst/>
          </a:prstGeom>
          <a:noFill/>
          <a:ln>
            <a:noFill/>
          </a:ln>
        </p:spPr>
        <p:txBody>
          <a:bodyPr wrap="square" anchor="t" lIns="101600" rIns="101600" tIns="101600" bIns="101600"/>
          <a:lstStyle/>
          <a:p>
            <a:pPr algn="l"/>
            <a:r>
              <a:rPr lang="en-US" sz="1400" dirty="0" smtClean="0">
                <a:solidFill>
                  <a:srgbClr val="6F584B"/>
                </a:solidFill>
                <a:latin typeface="IBM Plex Mono"/>
                <a:ea typeface="IBM Plex Mono"/>
                <a:cs typeface="IBM Plex Mono"/>
              </a:rPr>
              <a:t>1. Target hotel managers and marketing leads in premium and luxury properties.</a:t>
            </a:r>
            <a:endParaRPr lang="en-US" sz="1400" dirty="0"/>
          </a:p>
          <a:p>
            <a:pPr algn="l"/>
            <a:r>
              <a:rPr lang="en-US" sz="1400" dirty="0" smtClean="0">
                <a:solidFill>
                  <a:srgbClr val="6F584B"/>
                </a:solidFill>
                <a:latin typeface="IBM Plex Mono"/>
                <a:ea typeface="IBM Plex Mono"/>
                <a:cs typeface="IBM Plex Mono"/>
              </a:rPr>
              <a:t>2. Lead with a short prototype case from the hackathon, not a long abstract pitch.</a:t>
            </a:r>
            <a:endParaRPr lang="en-US" sz="1400" dirty="0"/>
          </a:p>
          <a:p>
            <a:pPr algn="l"/>
            <a:r>
              <a:rPr lang="en-US" sz="1400" dirty="0" smtClean="0">
                <a:solidFill>
                  <a:srgbClr val="6F584B"/>
                </a:solidFill>
                <a:latin typeface="IBM Plex Mono"/>
                <a:ea typeface="IBM Plex Mono"/>
                <a:cs typeface="IBM Plex Mono"/>
              </a:rPr>
              <a:t>3. Show a concrete outreach email on the slide to make the motion feel real.</a:t>
            </a:r>
            <a:endParaRPr lang="en-US" sz="1400" dirty="0"/>
          </a:p>
        </p:txBody>
      </p:sp>
      <p:sp>
        <p:nvSpPr>
          <p:cNvPr id="7" name="Narrative Panel"/>
          <p:cNvSpPr/>
          <p:nvPr/>
        </p:nvSpPr>
        <p:spPr>
          <a:xfrm>
            <a:off x="6812280" y="1783080"/>
            <a:ext cx="4315968" cy="3611880"/>
          </a:xfrm>
          <a:prstGeom prst="rect">
            <a:avLst/>
          </a:prstGeom>
          <a:solidFill>
            <a:srgbClr val="E9D8C0"/>
          </a:solidFill>
          <a:ln w="10160">
            <a:solidFill>
              <a:srgbClr val="D8CBBE"/>
            </a:solidFill>
          </a:ln>
        </p:spPr>
        <p:txBody>
          <a:bodyPr/>
          <a:lstStyle/>
          <a:p/>
        </p:txBody>
      </p:sp>
      <p:sp>
        <p:nvSpPr>
          <p:cNvPr id="8" name="Narrative Label"/>
          <p:cNvSpPr txBox="1"/>
          <p:nvPr/>
        </p:nvSpPr>
        <p:spPr>
          <a:xfrm>
            <a:off x="7059168" y="1993392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101600" rIns="101600" tIns="101600" bIns="101600"/>
          <a:lstStyle/>
          <a:p>
            <a:pPr algn="l"/>
            <a:r>
              <a:rPr lang="en-US" sz="1000" b="1" dirty="0" smtClean="0">
                <a:solidFill>
                  <a:srgbClr val="6F2430"/>
                </a:solidFill>
                <a:latin typeface="IBM Plex Mono"/>
                <a:ea typeface="IBM Plex Mono"/>
                <a:cs typeface="IBM Plex Mono"/>
              </a:rPr>
              <a:t>WHY THIS CHANNEL WORKS</a:t>
            </a:r>
            <a:endParaRPr lang="en-US" sz="1000" dirty="0"/>
          </a:p>
        </p:txBody>
      </p:sp>
      <p:sp>
        <p:nvSpPr>
          <p:cNvPr id="9" name="Narrative Text"/>
          <p:cNvSpPr txBox="1"/>
          <p:nvPr/>
        </p:nvSpPr>
        <p:spPr>
          <a:xfrm>
            <a:off x="7059168" y="2414016"/>
            <a:ext cx="3794760" cy="2194560"/>
          </a:xfrm>
          <a:prstGeom prst="rect">
            <a:avLst/>
          </a:prstGeom>
          <a:noFill/>
          <a:ln>
            <a:noFill/>
          </a:ln>
        </p:spPr>
        <p:txBody>
          <a:bodyPr wrap="square" anchor="t" lIns="101600" rIns="101600" tIns="101600" bIns="101600"/>
          <a:lstStyle/>
          <a:p>
            <a:pPr algn="l"/>
            <a:r>
              <a:rPr lang="en-US" sz="1500" dirty="0" smtClean="0">
                <a:solidFill>
                  <a:srgbClr val="6F584B"/>
                </a:solidFill>
                <a:latin typeface="IBM Plex Mono"/>
                <a:ea typeface="IBM Plex Mono"/>
                <a:cs typeface="IBM Plex Mono"/>
              </a:rPr>
              <a:t>Hotel outreach is easier when the product already looks and feels like a finished guest experience.</a:t>
            </a:r>
            <a:endParaRPr lang="en-US" sz="1500" dirty="0"/>
          </a:p>
          <a:p>
            <a:pPr algn="l"/>
            <a:r>
              <a:rPr lang="en-US" sz="1500" dirty="0" smtClean="0">
                <a:solidFill>
                  <a:srgbClr val="6F584B"/>
                </a:solidFill>
                <a:latin typeface="IBM Plex Mono"/>
                <a:ea typeface="IBM Plex Mono"/>
                <a:cs typeface="IBM Plex Mono"/>
              </a:rPr>
              <a:t>Customization is visible, so recipients can imagine their own property inside the same engine.</a:t>
            </a:r>
            <a:endParaRPr lang="en-US" sz="1500" dirty="0"/>
          </a:p>
          <a:p>
            <a:pPr algn="l"/>
            <a:r>
              <a:rPr lang="en-US" sz="1500" dirty="0" smtClean="0">
                <a:solidFill>
                  <a:srgbClr val="6F584B"/>
                </a:solidFill>
                <a:latin typeface="IBM Plex Mono"/>
                <a:ea typeface="IBM Plex Mono"/>
                <a:cs typeface="IBM Plex Mono"/>
              </a:rPr>
              <a:t>The first wave is direct email; later waves can include agency and portfolio partnerships.</a:t>
            </a:r>
            <a:endParaRPr lang="en-US" sz="1500" dirty="0"/>
          </a:p>
        </p:txBody>
      </p:sp>
      <p:sp>
        <p:nvSpPr>
          <p:cNvPr id="10" name="Quote Bar"/>
          <p:cNvSpPr/>
          <p:nvPr/>
        </p:nvSpPr>
        <p:spPr>
          <a:xfrm>
            <a:off x="6812280" y="4754880"/>
            <a:ext cx="4315968" cy="384048"/>
          </a:xfrm>
          <a:prstGeom prst="rect">
            <a:avLst/>
          </a:prstGeom>
          <a:solidFill>
            <a:srgbClr val="6F2430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Quote Text"/>
          <p:cNvSpPr txBox="1"/>
          <p:nvPr/>
        </p:nvSpPr>
        <p:spPr>
          <a:xfrm>
            <a:off x="6967728" y="4800600"/>
            <a:ext cx="397764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rIns="101600" tIns="101600" bIns="101600"/>
          <a:lstStyle/>
          <a:p>
            <a:pPr algn="l"/>
            <a:r>
              <a:rPr lang="en-US" sz="1000" b="1" dirty="0" smtClean="0">
                <a:solidFill>
                  <a:srgbClr val="FCF6EE"/>
                </a:solidFill>
                <a:latin typeface="IBM Plex Mono"/>
                <a:ea typeface="IBM Plex Mono"/>
                <a:cs typeface="IBM Plex Mono"/>
              </a:rPr>
              <a:t>Use a real outreach email here: short, visual, and prototype-led.</a:t>
            </a:r>
            <a:endParaRPr lang="en-US" sz="1000" dirty="0"/>
          </a:p>
        </p:txBody>
      </p:sp>
      <p:sp>
        <p:nvSpPr>
          <p:cNvPr id="12" name="Footer Label"/>
          <p:cNvSpPr txBox="1"/>
          <p:nvPr/>
        </p:nvSpPr>
        <p:spPr>
          <a:xfrm>
            <a:off x="10835640" y="6419088"/>
            <a:ext cx="8686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rIns="101600" tIns="101600" bIns="101600"/>
          <a:lstStyle/>
          <a:p>
            <a:pPr algn="l"/>
            <a:r>
              <a:rPr lang="en-US" sz="900" dirty="0" smtClean="0">
                <a:solidFill>
                  <a:srgbClr val="6F584B"/>
                </a:solidFill>
                <a:latin typeface="IBM Plex Mono"/>
                <a:ea typeface="IBM Plex Mono"/>
                <a:cs typeface="IBM Plex Mono"/>
              </a:rPr>
              <a:t>PAGE 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 Tab"/>
          <p:cNvSpPr txBox="1"/>
          <p:nvPr/>
        </p:nvSpPr>
        <p:spPr>
          <a:xfrm>
            <a:off x="475488" y="310896"/>
            <a:ext cx="1965960" cy="310896"/>
          </a:xfrm>
          <a:prstGeom prst="rect">
            <a:avLst/>
          </a:prstGeom>
          <a:solidFill>
            <a:srgbClr val="E9D8C0"/>
          </a:solidFill>
          <a:ln w="7620">
            <a:solidFill>
              <a:srgbClr val="D8CBBE"/>
            </a:solidFill>
          </a:ln>
        </p:spPr>
        <p:txBody>
          <a:bodyPr wrap="square" anchor="ctr" lIns="101600" rIns="101600" tIns="101600" bIns="101600"/>
          <a:lstStyle/>
          <a:p>
            <a:pPr algn="l"/>
            <a:r>
              <a:rPr lang="en-US" sz="1000" b="1" dirty="0" smtClean="0">
                <a:solidFill>
                  <a:srgbClr val="6F584B"/>
                </a:solidFill>
                <a:latin typeface="IBM Plex Mono"/>
                <a:ea typeface="IBM Plex Mono"/>
                <a:cs typeface="IBM Plex Mono"/>
              </a:rPr>
              <a:t>SLIDE 05 / DEMO</a:t>
            </a:r>
            <a:endParaRPr lang="en-US" sz="1000" dirty="0"/>
          </a:p>
        </p:txBody>
      </p:sp>
      <p:sp>
        <p:nvSpPr>
          <p:cNvPr id="3" name="Title"/>
          <p:cNvSpPr txBox="1"/>
          <p:nvPr/>
        </p:nvSpPr>
        <p:spPr>
          <a:xfrm>
            <a:off x="713232" y="1024128"/>
            <a:ext cx="576072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101600" rIns="101600" tIns="101600" bIns="101600"/>
          <a:lstStyle/>
          <a:p>
            <a:pPr algn="l"/>
            <a:r>
              <a:rPr lang="en-US" sz="2300" i="1" dirty="0" smtClean="0">
                <a:solidFill>
                  <a:srgbClr val="2D1D16"/>
                </a:solidFill>
                <a:latin typeface="Playfair Display"/>
                <a:ea typeface="Playfair Display"/>
                <a:cs typeface="Playfair Display"/>
              </a:rPr>
              <a:t>Close with the live product: proof that the story already exists in playable form.</a:t>
            </a:r>
            <a:endParaRPr lang="en-US" sz="2300" dirty="0"/>
          </a:p>
        </p:txBody>
      </p:sp>
      <p:sp>
        <p:nvSpPr>
          <p:cNvPr id="4" name="Subtitle"/>
          <p:cNvSpPr txBox="1"/>
          <p:nvPr/>
        </p:nvSpPr>
        <p:spPr>
          <a:xfrm>
            <a:off x="713232" y="1536192"/>
            <a:ext cx="72237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101600" rIns="101600" tIns="101600" bIns="101600"/>
          <a:lstStyle/>
          <a:p>
            <a:pPr algn="l"/>
            <a:r>
              <a:rPr lang="en-US" sz="1200" dirty="0" smtClean="0">
                <a:solidFill>
                  <a:srgbClr val="6F584B"/>
                </a:solidFill>
                <a:latin typeface="IBM Plex Mono"/>
                <a:ea typeface="IBM Plex Mono"/>
                <a:cs typeface="IBM Plex Mono"/>
              </a:rPr>
              <a:t>This final slide should feel like the invitation to enter the hotel, not a generic product recap.</a:t>
            </a:r>
            <a:endParaRPr lang="en-US" sz="1200" dirty="0"/>
          </a:p>
        </p:txBody>
      </p:sp>
      <p:sp>
        <p:nvSpPr>
          <p:cNvPr id="5" name="Demo Frame"/>
          <p:cNvSpPr/>
          <p:nvPr/>
        </p:nvSpPr>
        <p:spPr>
          <a:xfrm>
            <a:off x="804672" y="1938528"/>
            <a:ext cx="5806440" cy="3154680"/>
          </a:xfrm>
          <a:prstGeom prst="rect">
            <a:avLst/>
          </a:prstGeom>
          <a:solidFill>
            <a:srgbClr val="F3EADF"/>
          </a:solidFill>
          <a:ln w="12700">
            <a:solidFill>
              <a:srgbClr val="B08A3E"/>
            </a:solidFill>
          </a:ln>
        </p:spPr>
        <p:txBody>
          <a:bodyPr/>
          <a:lstStyle/>
          <a:p/>
        </p:txBody>
      </p:sp>
      <p:sp>
        <p:nvSpPr>
          <p:cNvPr id="6" name="Right Panel"/>
          <p:cNvSpPr/>
          <p:nvPr/>
        </p:nvSpPr>
        <p:spPr>
          <a:xfrm>
            <a:off x="6839712" y="1938528"/>
            <a:ext cx="4315968" cy="3154680"/>
          </a:xfrm>
          <a:prstGeom prst="rect">
            <a:avLst/>
          </a:prstGeom>
          <a:solidFill>
            <a:srgbClr val="E9D8C0"/>
          </a:solidFill>
          <a:ln w="10160">
            <a:solidFill>
              <a:srgbClr val="D8CBBE"/>
            </a:solidFill>
          </a:ln>
        </p:spPr>
        <p:txBody>
          <a:bodyPr/>
          <a:lstStyle/>
          <a:p/>
        </p:txBody>
      </p:sp>
      <p:sp>
        <p:nvSpPr>
          <p:cNvPr id="7" name="Demo Placeholder"/>
          <p:cNvSpPr txBox="1"/>
          <p:nvPr/>
        </p:nvSpPr>
        <p:spPr>
          <a:xfrm>
            <a:off x="1298448" y="2834640"/>
            <a:ext cx="5257800" cy="731520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rIns="101600" tIns="101600" bIns="101600"/>
          <a:lstStyle/>
          <a:p>
            <a:pPr algn="l"/>
            <a:r>
              <a:rPr lang="en-US" sz="2400" i="1" dirty="0" smtClean="0">
                <a:solidFill>
                  <a:srgbClr val="6F584B"/>
                </a:solidFill>
                <a:latin typeface="Playfair Display"/>
                <a:ea typeface="Playfair Display"/>
                <a:cs typeface="Playfair Display"/>
              </a:rPr>
              <a:t>Demo area</a:t>
            </a:r>
            <a:endParaRPr lang="en-US" sz="2400" dirty="0"/>
          </a:p>
          <a:p>
            <a:pPr algn="l"/>
            <a:r>
              <a:rPr lang="en-US" sz="1200" dirty="0" smtClean="0">
                <a:solidFill>
                  <a:srgbClr val="6F584B"/>
                </a:solidFill>
                <a:latin typeface="IBM Plex Mono"/>
                <a:ea typeface="IBM Plex Mono"/>
                <a:cs typeface="IBM Plex Mono"/>
              </a:rPr>
              <a:t>Show the lobby, the concierge chat, and one visible room change.</a:t>
            </a:r>
            <a:endParaRPr lang="en-US" sz="1200" dirty="0"/>
          </a:p>
        </p:txBody>
      </p:sp>
      <p:sp>
        <p:nvSpPr>
          <p:cNvPr id="8" name="Right Label"/>
          <p:cNvSpPr txBox="1"/>
          <p:nvPr/>
        </p:nvSpPr>
        <p:spPr>
          <a:xfrm>
            <a:off x="7059168" y="2139696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101600" rIns="101600" tIns="101600" bIns="101600"/>
          <a:lstStyle/>
          <a:p>
            <a:pPr algn="l"/>
            <a:r>
              <a:rPr lang="en-US" sz="1000" b="1" dirty="0" smtClean="0">
                <a:solidFill>
                  <a:srgbClr val="6F2430"/>
                </a:solidFill>
                <a:latin typeface="IBM Plex Mono"/>
                <a:ea typeface="IBM Plex Mono"/>
                <a:cs typeface="IBM Plex Mono"/>
              </a:rPr>
              <a:t>WHAT TO HIGHLIGHT</a:t>
            </a:r>
            <a:endParaRPr lang="en-US" sz="1000" dirty="0"/>
          </a:p>
        </p:txBody>
      </p:sp>
      <p:sp>
        <p:nvSpPr>
          <p:cNvPr id="9" name="Right Body"/>
          <p:cNvSpPr txBox="1"/>
          <p:nvPr/>
        </p:nvSpPr>
        <p:spPr>
          <a:xfrm>
            <a:off x="7059168" y="2542032"/>
            <a:ext cx="3840480" cy="2011680"/>
          </a:xfrm>
          <a:prstGeom prst="rect">
            <a:avLst/>
          </a:prstGeom>
          <a:noFill/>
          <a:ln>
            <a:noFill/>
          </a:ln>
        </p:spPr>
        <p:txBody>
          <a:bodyPr wrap="square" anchor="t" lIns="101600" rIns="101600" tIns="101600" bIns="101600"/>
          <a:lstStyle/>
          <a:p>
            <a:pPr algn="l"/>
            <a:r>
              <a:rPr lang="en-US" sz="1500" dirty="0" smtClean="0">
                <a:solidFill>
                  <a:srgbClr val="6F584B"/>
                </a:solidFill>
                <a:latin typeface="IBM Plex Mono"/>
                <a:ea typeface="IBM Plex Mono"/>
                <a:cs typeface="IBM Plex Mono"/>
              </a:rPr>
              <a:t>Historic luxury atmosphere</a:t>
            </a:r>
            <a:endParaRPr lang="en-US" sz="1500" dirty="0"/>
          </a:p>
          <a:p>
            <a:pPr algn="l"/>
            <a:r>
              <a:rPr lang="en-US" sz="1500" dirty="0" smtClean="0">
                <a:solidFill>
                  <a:srgbClr val="6F584B"/>
                </a:solidFill>
                <a:latin typeface="IBM Plex Mono"/>
                <a:ea typeface="IBM Plex Mono"/>
                <a:cs typeface="IBM Plex Mono"/>
              </a:rPr>
              <a:t>AI-driven dialogue</a:t>
            </a:r>
            <a:endParaRPr lang="en-US" sz="1500" dirty="0"/>
          </a:p>
          <a:p>
            <a:pPr algn="l"/>
            <a:r>
              <a:rPr lang="en-US" sz="1500" dirty="0" smtClean="0">
                <a:solidFill>
                  <a:srgbClr val="6F584B"/>
                </a:solidFill>
                <a:latin typeface="IBM Plex Mono"/>
                <a:ea typeface="IBM Plex Mono"/>
                <a:cs typeface="IBM Plex Mono"/>
              </a:rPr>
              <a:t>Customizable story world</a:t>
            </a:r>
            <a:endParaRPr lang="en-US" sz="1500" dirty="0"/>
          </a:p>
          <a:p>
            <a:pPr algn="l"/>
            <a:r>
              <a:rPr lang="en-US" sz="1500" dirty="0" smtClean="0">
                <a:solidFill>
                  <a:srgbClr val="6F584B"/>
                </a:solidFill>
                <a:latin typeface="IBM Plex Mono"/>
                <a:ea typeface="IBM Plex Mono"/>
                <a:cs typeface="IBM Plex Mono"/>
              </a:rPr>
              <a:t>A digital experience hotels can actually own</a:t>
            </a:r>
            <a:endParaRPr lang="en-US" sz="1500" dirty="0"/>
          </a:p>
        </p:txBody>
      </p:sp>
      <p:sp>
        <p:nvSpPr>
          <p:cNvPr id="10" name="Close Line"/>
          <p:cNvSpPr txBox="1"/>
          <p:nvPr/>
        </p:nvSpPr>
        <p:spPr>
          <a:xfrm>
            <a:off x="7059168" y="45720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101600" rIns="101600" tIns="101600" bIns="101600"/>
          <a:lstStyle/>
          <a:p>
            <a:pPr algn="l"/>
            <a:r>
              <a:rPr lang="en-US" sz="1600" i="1" dirty="0" smtClean="0">
                <a:solidFill>
                  <a:srgbClr val="2D1D16"/>
                </a:solidFill>
                <a:latin typeface="Playfair Display"/>
                <a:ea typeface="Playfair Display"/>
                <a:cs typeface="Playfair Display"/>
              </a:rPr>
              <a:t>From one mystery to a portfolio of hotel experiences.</a:t>
            </a:r>
            <a:endParaRPr lang="en-US" sz="1600" dirty="0"/>
          </a:p>
        </p:txBody>
      </p:sp>
      <p:sp>
        <p:nvSpPr>
          <p:cNvPr id="11" name="Commitment Bar"/>
          <p:cNvSpPr/>
          <p:nvPr/>
        </p:nvSpPr>
        <p:spPr>
          <a:xfrm>
            <a:off x="804672" y="4590288"/>
            <a:ext cx="10351008" cy="384048"/>
          </a:xfrm>
          <a:prstGeom prst="rect">
            <a:avLst/>
          </a:prstGeom>
          <a:solidFill>
            <a:srgbClr val="6F2430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Commitment Text"/>
          <p:cNvSpPr txBox="1"/>
          <p:nvPr/>
        </p:nvSpPr>
        <p:spPr>
          <a:xfrm>
            <a:off x="1005840" y="4654296"/>
            <a:ext cx="992124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rIns="101600" tIns="101600" bIns="101600"/>
          <a:lstStyle/>
          <a:p>
            <a:pPr algn="l"/>
            <a:r>
              <a:rPr lang="en-US" sz="1100" b="1" dirty="0" smtClean="0">
                <a:solidFill>
                  <a:srgbClr val="FCF6EE"/>
                </a:solidFill>
                <a:latin typeface="IBM Plex Mono"/>
                <a:ea typeface="IBM Plex Mono"/>
                <a:cs typeface="IBM Plex Mono"/>
              </a:rPr>
              <a:t>Demo of the app: show that Grand Hotel Pannonia already exists as a prototype, not just as a pitch idea.</a:t>
            </a:r>
            <a:endParaRPr lang="en-US" sz="1100" dirty="0"/>
          </a:p>
        </p:txBody>
      </p:sp>
      <p:sp>
        <p:nvSpPr>
          <p:cNvPr id="13" name="Footer Label"/>
          <p:cNvSpPr txBox="1"/>
          <p:nvPr/>
        </p:nvSpPr>
        <p:spPr>
          <a:xfrm>
            <a:off x="10835640" y="6419088"/>
            <a:ext cx="8686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rIns="101600" tIns="101600" bIns="101600"/>
          <a:lstStyle/>
          <a:p>
            <a:pPr algn="l"/>
            <a:r>
              <a:rPr lang="en-US" sz="900" dirty="0" smtClean="0">
                <a:solidFill>
                  <a:srgbClr val="6F584B"/>
                </a:solidFill>
                <a:latin typeface="IBM Plex Mono"/>
                <a:ea typeface="IBM Plex Mono"/>
                <a:cs typeface="IBM Plex Mono"/>
              </a:rPr>
              <a:t>PAGE 05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ysteriesAtTheGrandTheme">
  <a:themeElements>
    <a:clrScheme name="GrandHotelPalette">
      <a:dk1>
        <a:srgbClr val="2D1D16"/>
      </a:dk1>
      <a:lt1>
        <a:srgbClr val="FCF6EE"/>
      </a:lt1>
      <a:dk2>
        <a:srgbClr val="6F584B"/>
      </a:dk2>
      <a:lt2>
        <a:srgbClr val="E9D8C0"/>
      </a:lt2>
      <a:accent1>
        <a:srgbClr val="B08A3E"/>
      </a:accent1>
      <a:accent2>
        <a:srgbClr val="6F2430"/>
      </a:accent2>
      <a:accent3>
        <a:srgbClr val="31463A"/>
      </a:accent3>
      <a:accent4>
        <a:srgbClr val="F3EADF"/>
      </a:accent4>
      <a:accent5>
        <a:srgbClr val="6F584B"/>
      </a:accent5>
      <a:accent6>
        <a:srgbClr val="5E6F7B"/>
      </a:accent6>
      <a:hlink>
        <a:srgbClr val="6F2430"/>
      </a:hlink>
      <a:folHlink>
        <a:srgbClr val="31463A"/>
      </a:folHlink>
    </a:clrScheme>
    <a:fontScheme name="GrandHotelType">
      <a:majorFont>
        <a:latin typeface="Playfair Display"/>
        <a:ea typeface="Playfair Display"/>
        <a:cs typeface="Playfair Display"/>
      </a:majorFont>
      <a:minorFont>
        <a:latin typeface="IBM Plex Mono"/>
        <a:ea typeface="IBM Plex Mono"/>
        <a:cs typeface="IBM Plex Mono"/>
      </a:minorFont>
    </a:fontScheme>
    <a:fmtScheme name="GrandHotelFormat">
      <a:fillStyleLst>
        <a:solidFill>
          <a:schemeClr val="lt1"/>
        </a:solidFill>
        <a:solidFill>
          <a:schemeClr val="accent4"/>
        </a:solidFill>
        <a:solidFill>
          <a:schemeClr val="accent2"/>
        </a:solidFill>
      </a:fillStyleLst>
      <a:lnStyleLst>
        <a:ln w="9525">
          <a:solidFill>
            <a:schemeClr val="accent5"/>
          </a:solidFill>
        </a:ln>
        <a:ln w="19050">
          <a:solidFill>
            <a:schemeClr val="accent1"/>
          </a:solidFill>
        </a:ln>
        <a:ln w="38100">
          <a:solidFill>
            <a:schemeClr val="accent2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accent4"/>
        </a:solidFill>
        <a:solidFill>
          <a:schemeClr val="lt1"/>
        </a:solidFill>
        <a:solidFill>
          <a:schemeClr val="lt2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Cursor</Application>
  <PresentationFormat>Widescreen</PresentationFormat>
  <Slides>5</Slides>
  <Notes>0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1" baseType="lpstr">
      <vt:lpstr>Mysteries At The Grand Pitch Deck</vt:lpstr>
    </vt:vector>
  </TitlesOfParts>
  <Company/>
  <LinksUpToDate>false</LinksUpToDate>
  <SharedDoc>false</SharedDoc>
  <HyperlinksChanged>false</HyperlinksChanged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Mysteries At The Grand Pitch Deck</dc:title>
  <dc:creator>Cursor</dc:creator>
  <cp:lastModifiedBy>Cursor</cp:lastModifiedBy>
  <dcterms:created xsi:type="dcterms:W3CDTF">2026-03-22T08:51:01Z</dcterms:created>
  <dcterms:modified xsi:type="dcterms:W3CDTF">2026-03-22T08:51:01Z</dcterms:modified>
</cp:coreProperties>
</file>